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64" r:id="rId11"/>
    <p:sldId id="265" r:id="rId12"/>
    <p:sldId id="281" r:id="rId13"/>
    <p:sldId id="266" r:id="rId14"/>
    <p:sldId id="282" r:id="rId15"/>
    <p:sldId id="267" r:id="rId16"/>
    <p:sldId id="268" r:id="rId17"/>
    <p:sldId id="283" r:id="rId18"/>
    <p:sldId id="284" r:id="rId19"/>
    <p:sldId id="270" r:id="rId20"/>
    <p:sldId id="285" r:id="rId21"/>
    <p:sldId id="286" r:id="rId22"/>
    <p:sldId id="276" r:id="rId23"/>
    <p:sldId id="287" r:id="rId24"/>
    <p:sldId id="277" r:id="rId25"/>
    <p:sldId id="278" r:id="rId26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DM Sans" panose="020B0604020202020204" charset="0"/>
      <p:regular r:id="rId31"/>
    </p:embeddedFont>
    <p:embeddedFont>
      <p:font typeface="Canva Sans" panose="020B0604020202020204" charset="0"/>
      <p:regular r:id="rId32"/>
    </p:embeddedFont>
    <p:embeddedFont>
      <p:font typeface="Arimo Bold" panose="020B0604020202020204" charset="0"/>
      <p:regular r:id="rId33"/>
    </p:embeddedFont>
    <p:embeddedFont>
      <p:font typeface="Arimo Italic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4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3327" y="1569489"/>
            <a:ext cx="15215189" cy="7223107"/>
            <a:chOff x="0" y="0"/>
            <a:chExt cx="4007293" cy="19023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7293" cy="1902382"/>
            </a:xfrm>
            <a:custGeom>
              <a:avLst/>
              <a:gdLst/>
              <a:ahLst/>
              <a:cxnLst/>
              <a:rect l="l" t="t" r="r" b="b"/>
              <a:pathLst>
                <a:path w="4007293" h="1902382">
                  <a:moveTo>
                    <a:pt x="0" y="0"/>
                  </a:moveTo>
                  <a:lnTo>
                    <a:pt x="4007293" y="0"/>
                  </a:lnTo>
                  <a:lnTo>
                    <a:pt x="4007293" y="1902382"/>
                  </a:lnTo>
                  <a:lnTo>
                    <a:pt x="0" y="1902382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7293" cy="1940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72591" y="659071"/>
            <a:ext cx="2823856" cy="838539"/>
          </a:xfrm>
          <a:custGeom>
            <a:avLst/>
            <a:gdLst/>
            <a:ahLst/>
            <a:cxnLst/>
            <a:rect l="l" t="t" r="r" b="b"/>
            <a:pathLst>
              <a:path w="2823856" h="838539">
                <a:moveTo>
                  <a:pt x="0" y="0"/>
                </a:moveTo>
                <a:lnTo>
                  <a:pt x="2823856" y="0"/>
                </a:lnTo>
                <a:lnTo>
                  <a:pt x="2823856" y="838539"/>
                </a:lnTo>
                <a:lnTo>
                  <a:pt x="0" y="83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51956" y="9018666"/>
            <a:ext cx="2823856" cy="838539"/>
          </a:xfrm>
          <a:custGeom>
            <a:avLst/>
            <a:gdLst/>
            <a:ahLst/>
            <a:cxnLst/>
            <a:rect l="l" t="t" r="r" b="b"/>
            <a:pathLst>
              <a:path w="2823856" h="838539">
                <a:moveTo>
                  <a:pt x="0" y="0"/>
                </a:moveTo>
                <a:lnTo>
                  <a:pt x="2823856" y="0"/>
                </a:lnTo>
                <a:lnTo>
                  <a:pt x="2823856" y="838539"/>
                </a:lnTo>
                <a:lnTo>
                  <a:pt x="0" y="83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6172200"/>
            <a:ext cx="4562782" cy="4114800"/>
          </a:xfrm>
          <a:custGeom>
            <a:avLst/>
            <a:gdLst/>
            <a:ahLst/>
            <a:cxnLst/>
            <a:rect l="l" t="t" r="r" b="b"/>
            <a:pathLst>
              <a:path w="4562782" h="4114800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66822" y="1602385"/>
            <a:ext cx="10313198" cy="655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9"/>
              </a:lnSpc>
            </a:pPr>
            <a:r>
              <a:rPr lang="en-US" sz="2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IOT_ANALYSIS_FIRST_ASSIGNMENT</a:t>
            </a:r>
          </a:p>
          <a:p>
            <a:pPr algn="ctr">
              <a:lnSpc>
                <a:spcPts val="7189"/>
              </a:lnSpc>
            </a:pP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Course: </a:t>
            </a:r>
            <a:r>
              <a:rPr lang="en-US" sz="3000" b="1" dirty="0" err="1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IoT</a:t>
            </a: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 Data Analytics &amp; Big Data</a:t>
            </a:r>
          </a:p>
          <a:p>
            <a:pPr algn="ctr">
              <a:lnSpc>
                <a:spcPts val="7189"/>
              </a:lnSpc>
            </a:pP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Instructor: Dr. Yao </a:t>
            </a:r>
            <a:r>
              <a:rPr lang="en-US" sz="3000" b="1" dirty="0" err="1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Yeboah</a:t>
            </a:r>
            <a:endParaRPr lang="en-US" sz="3000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7189"/>
              </a:lnSpc>
            </a:pPr>
            <a:r>
              <a:rPr lang="en-US" sz="3000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Presented By: </a:t>
            </a: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Oyeleke Abduljabar </a:t>
            </a:r>
            <a:r>
              <a:rPr lang="en-US" sz="3000" b="1" dirty="0" err="1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Gbenga</a:t>
            </a:r>
            <a:endParaRPr lang="en-US" sz="3000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7189"/>
              </a:lnSpc>
            </a:pP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Student ID: MIES250001</a:t>
            </a:r>
          </a:p>
          <a:p>
            <a:pPr algn="ctr">
              <a:lnSpc>
                <a:spcPts val="7189"/>
              </a:lnSpc>
            </a:pPr>
            <a:r>
              <a:rPr lang="en-US" sz="3000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Date: October </a:t>
            </a:r>
            <a:r>
              <a:rPr lang="en-US" sz="3000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  <a:endParaRPr lang="en-US" sz="3000" i="1" dirty="0">
              <a:solidFill>
                <a:srgbClr val="2D1103"/>
              </a:solidFill>
              <a:latin typeface="Arimo Italics"/>
              <a:ea typeface="Arimo Italics"/>
              <a:cs typeface="Arimo Italics"/>
              <a:sym typeface="Arimo Italics"/>
            </a:endParaRPr>
          </a:p>
          <a:p>
            <a:pPr algn="ctr">
              <a:lnSpc>
                <a:spcPts val="7889"/>
              </a:lnSpc>
            </a:pPr>
            <a:endParaRPr lang="en-US" sz="2000" i="1" dirty="0">
              <a:solidFill>
                <a:srgbClr val="2D1103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3725218" y="0"/>
            <a:ext cx="4562782" cy="4114800"/>
          </a:xfrm>
          <a:custGeom>
            <a:avLst/>
            <a:gdLst/>
            <a:ahLst/>
            <a:cxnLst/>
            <a:rect l="l" t="t" r="r" b="b"/>
            <a:pathLst>
              <a:path w="4562782" h="4114800">
                <a:moveTo>
                  <a:pt x="45627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2782" y="0"/>
                </a:lnTo>
                <a:lnTo>
                  <a:pt x="45627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62782" y="573168"/>
            <a:ext cx="2665345" cy="911063"/>
          </a:xfrm>
          <a:custGeom>
            <a:avLst/>
            <a:gdLst/>
            <a:ahLst/>
            <a:cxnLst/>
            <a:rect l="l" t="t" r="r" b="b"/>
            <a:pathLst>
              <a:path w="2665345" h="911063">
                <a:moveTo>
                  <a:pt x="0" y="0"/>
                </a:moveTo>
                <a:lnTo>
                  <a:pt x="2665345" y="0"/>
                </a:lnTo>
                <a:lnTo>
                  <a:pt x="2665345" y="911064"/>
                </a:lnTo>
                <a:lnTo>
                  <a:pt x="0" y="911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42255" y="8106456"/>
            <a:ext cx="8807124" cy="73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3"/>
              </a:lnSpc>
            </a:pPr>
            <a:r>
              <a:rPr lang="en-US" sz="4295" dirty="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979617" y="9018666"/>
            <a:ext cx="2665345" cy="911063"/>
          </a:xfrm>
          <a:custGeom>
            <a:avLst/>
            <a:gdLst/>
            <a:ahLst/>
            <a:cxnLst/>
            <a:rect l="l" t="t" r="r" b="b"/>
            <a:pathLst>
              <a:path w="2665345" h="911063">
                <a:moveTo>
                  <a:pt x="0" y="0"/>
                </a:moveTo>
                <a:lnTo>
                  <a:pt x="2665345" y="0"/>
                </a:lnTo>
                <a:lnTo>
                  <a:pt x="2665345" y="911063"/>
                </a:lnTo>
                <a:lnTo>
                  <a:pt x="0" y="911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2794" y="1029591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72000" y="938352"/>
            <a:ext cx="8548967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1"/>
              </a:lnSpc>
            </a:pPr>
            <a:r>
              <a:rPr lang="en-US" sz="7186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CONTENT</a:t>
            </a:r>
            <a:endParaRPr lang="en-US" sz="7186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18198" y="2238426"/>
            <a:ext cx="5160415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3276261"/>
            <a:ext cx="6715584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Research Focus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6653" y="4232481"/>
            <a:ext cx="7282788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Insight Table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2425" y="5377528"/>
            <a:ext cx="6787129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Energy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2425" y="6464661"/>
            <a:ext cx="7629340" cy="153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Dissimilar Metal Challenges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072" y="2293139"/>
            <a:ext cx="8149072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Weld Seam Geometry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072" y="3276261"/>
            <a:ext cx="8149072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Environmental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072" y="4324745"/>
            <a:ext cx="7376471" cy="153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Design Enhancement and trade-offs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9441" y="5855824"/>
            <a:ext cx="6791386" cy="153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Summary Of Relevance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9441" y="7705591"/>
            <a:ext cx="4120129" cy="7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060" lvl="1" indent="-479530" algn="l">
              <a:lnSpc>
                <a:spcPts val="6219"/>
              </a:lnSpc>
              <a:buFont typeface="Arial"/>
              <a:buChar char="•"/>
            </a:pPr>
            <a:r>
              <a:rPr lang="en-US" sz="4442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17" name="Freeform 17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7513" y="1011094"/>
            <a:ext cx="16291787" cy="67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3"/>
              </a:lnSpc>
            </a:pPr>
            <a:r>
              <a:rPr lang="en-US" sz="4138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  <a:endParaRPr lang="en-US" sz="4138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3098" y="1905553"/>
            <a:ext cx="15743302" cy="704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5400" dirty="0"/>
              <a:t>Analysis conducted on </a:t>
            </a:r>
            <a:r>
              <a:rPr lang="en-US" sz="5400" dirty="0" err="1"/>
              <a:t>IoT</a:t>
            </a:r>
            <a:r>
              <a:rPr lang="en-US" sz="5400" dirty="0"/>
              <a:t> sensor data collected over seven consecutive days (March 1–7, 2025).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Sensors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temperature, humidity, light intensity, pH, and electrical conductivity.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 were taken at 5-second intervals using a real-time monitoring setup.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explore sensor behavior and environmental patterns through EDA, feature engineering, and anomaly detection using Python tools.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05288" y="923925"/>
            <a:ext cx="11848535" cy="73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7"/>
              </a:lnSpc>
            </a:pPr>
            <a:r>
              <a:rPr lang="en-US" sz="4469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Dataset Description</a:t>
            </a:r>
            <a:endParaRPr lang="en-US" sz="4469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0899" y="1692963"/>
            <a:ext cx="16086202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daily CSV files were merged into a single dataset containing over 120,000 observations.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simultaneous readings from all five sensors.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intensity values were used to classify daytime and nighttime periods.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humidity data helped identify inverse and cyclic patterns.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merged dataset formed the foundation for Exploratory Data Analysis (EDA) and Feature Engineering tasks.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05288" y="923925"/>
            <a:ext cx="1184853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7"/>
              </a:lnSpc>
            </a:pPr>
            <a:r>
              <a:rPr lang="en-US" sz="4469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Task 1 </a:t>
            </a:r>
            <a:r>
              <a:rPr lang="en-US" sz="4469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69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Exploratory Data Analysis (EDA)</a:t>
            </a:r>
            <a:endParaRPr lang="en-US" sz="4469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0899" y="2410719"/>
            <a:ext cx="16086202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was performed to understand the relationships and behaviors of temperature, humidity, and light intensity sensors. This included plotting time-series trends, identifying day–night light cycles, exploring humidity–temperature correlations, and calculating descriptive statistics such as mean, minimum, maximum, and variance. A correlation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also created to visualize interactions among the sensors.”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Trends and Correlations</a:t>
            </a:r>
            <a:endParaRPr lang="en-US" sz="3834" b="1" dirty="0">
              <a:solidFill>
                <a:srgbClr val="2D1103"/>
              </a:solidFill>
              <a:latin typeface="Times New Roman" panose="02020603050405020304" pitchFamily="18" charset="0"/>
              <a:ea typeface="Arimo Bold"/>
              <a:cs typeface="Times New Roman" panose="02020603050405020304" pitchFamily="18" charset="0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0899" y="2208373"/>
            <a:ext cx="16086202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time-series trends showing how temperature, humidity, and light intensity changed over time.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day–night cycles using light-intensity thresholds to distinguish illumination patterns.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correlation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examine relationships among temperature, humidity, and light.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a scatter plot to explore the inverse relationship between humidity and temperature using correlation coefficients.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97554" y="1723749"/>
            <a:ext cx="16086202" cy="63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7"/>
              </a:lnSpc>
            </a:pPr>
            <a:endParaRPr lang="en-US" sz="3255" dirty="0">
              <a:solidFill>
                <a:srgbClr val="2D110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54" y="1657763"/>
            <a:ext cx="8435341" cy="258644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632895" y="1803196"/>
            <a:ext cx="7131106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how temperature readings changed throughout the seven-day monitoring period. The 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line represents the measured temperature values in degrees Celsius at 5-second intervals. The almost 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flat, consistent pattern indicates that the environment was thermally stable, with no overheating or cooling 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spikes detected, showing that the temperature sensor maintained reliable performance during the 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5733569"/>
            <a:ext cx="8764555" cy="25864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533308" y="5074273"/>
            <a:ext cx="713110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graph visualizes humidity variation across the same seven-day window. The blue trace represents the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sensor’s percentage readings of air moisture. The gentle, consistent fluctuations confirm that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was well controlled, with no sudden drops or surges. The absence of sharp deviations suggests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accurately followed natural minor oscillations without noise.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5724" y="859242"/>
            <a:ext cx="17090012" cy="8585754"/>
            <a:chOff x="-90311" y="-64776"/>
            <a:chExt cx="4501073" cy="2261268"/>
          </a:xfrm>
        </p:grpSpPr>
        <p:sp>
          <p:nvSpPr>
            <p:cNvPr id="3" name="Freeform 3"/>
            <p:cNvSpPr/>
            <p:nvPr/>
          </p:nvSpPr>
          <p:spPr>
            <a:xfrm>
              <a:off x="-90311" y="-64776"/>
              <a:ext cx="4501073" cy="2261268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97554" y="1723749"/>
            <a:ext cx="16086202" cy="63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7"/>
              </a:lnSpc>
            </a:pPr>
            <a:endParaRPr lang="en-US" sz="3255" dirty="0">
              <a:solidFill>
                <a:srgbClr val="2D110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48548" y="8982687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dirty="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14"/>
          <p:cNvSpPr/>
          <p:nvPr/>
        </p:nvSpPr>
        <p:spPr>
          <a:xfrm>
            <a:off x="9632895" y="1803196"/>
            <a:ext cx="713110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intensity plot clearly distinguishes day and night cycles based on illumination levels (lux). Peaks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 to daytime while valleys represent nighttime. The regular pattern confirms proper sensor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and alignment with daily light variations. This attribute was later used as a threshold to classify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vs. night periods in the dataset.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3308" y="5074273"/>
            <a:ext cx="7131106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degree of relationship between temperature, humidity, and light intensity. Each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block represents a correlation value between two variables (1 = perfect correlation, 0 = no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relationship, -1 = strong inverse). All values hover around zero, indicating that the three factors change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independently. This independence suggests that the monitoring environment was controlled and none of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sensors interfered with the others.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40" y="1658505"/>
            <a:ext cx="8444556" cy="258644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114" y="4600662"/>
            <a:ext cx="6740270" cy="46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8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5724" y="257923"/>
            <a:ext cx="17090012" cy="8585754"/>
            <a:chOff x="-90311" y="-64776"/>
            <a:chExt cx="4501073" cy="2261268"/>
          </a:xfrm>
        </p:grpSpPr>
        <p:sp>
          <p:nvSpPr>
            <p:cNvPr id="3" name="Freeform 3"/>
            <p:cNvSpPr/>
            <p:nvPr/>
          </p:nvSpPr>
          <p:spPr>
            <a:xfrm>
              <a:off x="-90311" y="-64776"/>
              <a:ext cx="4501073" cy="2261268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97554" y="1723749"/>
            <a:ext cx="16086202" cy="63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7"/>
              </a:lnSpc>
            </a:pPr>
            <a:endParaRPr lang="en-US" sz="3255" dirty="0">
              <a:solidFill>
                <a:srgbClr val="2D110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48548" y="8982687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dirty="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14"/>
          <p:cNvSpPr/>
          <p:nvPr/>
        </p:nvSpPr>
        <p:spPr>
          <a:xfrm>
            <a:off x="3442337" y="6018555"/>
            <a:ext cx="1349852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intensity plot clearly distinguishes day and night cycles based on illumination levels (lux). Peaks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 to daytime while valleys represent nighttime. The regular pattern confirms proper sensor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daily light variations. This attribute was later used as a threshold to classify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vs. night periods in the dataset.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8" y="563563"/>
            <a:ext cx="10093752" cy="493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7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297" y="931160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716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GB" sz="6000" b="1" dirty="0" smtClean="0"/>
              <a:t>1.2  Identify Patterns</a:t>
            </a:r>
            <a:endParaRPr lang="en-US" sz="6000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554" y="1723749"/>
            <a:ext cx="16086202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day–night patterns using light intensity readings.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that temperature slightly increased during daytime hours.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levels were higher at night, showing normal environmental variation.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37831" y="1287181"/>
            <a:ext cx="86868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boxplot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daytime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nighttime temperature distributions. Each box represents the spread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readings for a specific period. The nearly identical medians and interquartile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ranges between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and night confirm that temperature remained steady, unaffected by light cycles or external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31" y="1210534"/>
            <a:ext cx="6664069" cy="3657401"/>
          </a:xfrm>
          <a:prstGeom prst="rect">
            <a:avLst/>
          </a:prstGeom>
        </p:spPr>
      </p:pic>
      <p:sp>
        <p:nvSpPr>
          <p:cNvPr id="15" name="TextBox 6"/>
          <p:cNvSpPr txBox="1"/>
          <p:nvPr/>
        </p:nvSpPr>
        <p:spPr>
          <a:xfrm>
            <a:off x="1173098" y="5237417"/>
            <a:ext cx="766610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boxplot illustrates the humidity differences between day and night. The similar box shapes and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ranges indicate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change between both periods. The uniformity across day–night cycles suggests that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indoor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maintained consistent humidity levels, validating proper humidity sensor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and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surroundings.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838" y="5024543"/>
            <a:ext cx="7841362" cy="3657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297" y="931160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140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6000" b="1" dirty="0" smtClean="0"/>
              <a:t>1.3  </a:t>
            </a:r>
            <a:r>
              <a:rPr lang="en-US" sz="6000" b="1" dirty="0"/>
              <a:t>Compute Basic Statistics (Descriptive Analysis)</a:t>
            </a:r>
            <a:endParaRPr lang="en-US" sz="6000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554" y="1723749"/>
            <a:ext cx="16086202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Ø"/>
            </a:pPr>
            <a:endParaRPr lang="en-GB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GB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</a:t>
            </a: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mean, minimum, maximum, and variance for each sensor reading (temperature, humidity, light, etc.).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all results in a comprehensive statistics table.</a:t>
            </a:r>
          </a:p>
          <a:p>
            <a:pPr marL="685800" indent="-685800" algn="ctr">
              <a:buFont typeface="Wingdings" panose="05000000000000000000" pitchFamily="2" charset="2"/>
              <a:buChar char="Ø"/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quantify sensor stability and compare overall performance.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7148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3098" y="4876481"/>
            <a:ext cx="16200502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summarizes each sensor’s descriptive statistics — mean, minimum, maximum, and variance.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shows the widest variance due to natural day–night changes. In contrast, pH and electrical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 nearly constant, demonstrating that the monitoring system maintained chemical and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stability. The consistent values also confirm that no sensor drift occurred.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" y="1089336"/>
            <a:ext cx="10386257" cy="3409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67238" y="954492"/>
            <a:ext cx="13177712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7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Anomaly Detection</a:t>
            </a:r>
            <a:endParaRPr lang="en-US" sz="4469" b="1" dirty="0">
              <a:solidFill>
                <a:srgbClr val="2D1103"/>
              </a:solidFill>
              <a:latin typeface="Times New Roman" panose="02020603050405020304" pitchFamily="18" charset="0"/>
              <a:ea typeface="Arimo Bold"/>
              <a:cs typeface="Times New Roman" panose="02020603050405020304" pitchFamily="18" charset="0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0899" y="2410719"/>
            <a:ext cx="16086202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and Anomaly Detection were carried out to enrich the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dataset and identify irregular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 behaviors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involved deriving new variables such as the rate of change and moving averages for temperature and humidity to capture short-term variations and smooth noise.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Light-intensity readings were used to classify daytime and nighttime periods.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was performed using rolling mean and rolling standard deviation methods (±3σ rule) to flag abnormal or faulty readings across sensors.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steps improved data quality and supported better interpretation of environmental trends.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7554" y="8694609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1905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GB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Feature Engineering</a:t>
            </a:r>
            <a:endParaRPr lang="en-US" sz="5000" b="1" dirty="0">
              <a:solidFill>
                <a:srgbClr val="2D1103"/>
              </a:solidFill>
              <a:latin typeface="Times New Roman" panose="02020603050405020304" pitchFamily="18" charset="0"/>
              <a:ea typeface="Arimo Bold"/>
              <a:cs typeface="Times New Roman" panose="02020603050405020304" pitchFamily="18" charset="0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554" y="1733274"/>
            <a:ext cx="16086202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clear day–night patterns using light-intensity readings.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that temperature slightly increased during daytime hours.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levels were higher at night, showing normal environmental variation.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averages and rate-of-change analyses helped smooth and highlight these patterns.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297" y="1075205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07603" y="1414403"/>
            <a:ext cx="7162467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figure shows the raw temperature data (blue line) alongside its 10-minute moving average (orange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line). The moving average smooths short-term fluctuations, revealing the long-term trend. The close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 between both lines confirms that the temperature remained stable with no large transient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deviations, proving consistent thermal conditions.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17105"/>
            <a:ext cx="8191500" cy="2586445"/>
          </a:xfrm>
          <a:prstGeom prst="rect">
            <a:avLst/>
          </a:prstGeom>
        </p:spPr>
      </p:pic>
      <p:sp>
        <p:nvSpPr>
          <p:cNvPr id="15" name="TextBox 6"/>
          <p:cNvSpPr txBox="1"/>
          <p:nvPr/>
        </p:nvSpPr>
        <p:spPr>
          <a:xfrm>
            <a:off x="1028701" y="4788809"/>
            <a:ext cx="78105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rate-of-change (ROC) plot quantifies how quickly temperature values change per second. The line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remains almost flat across the timeline, indicating slow and steady temperature evolution. The absence of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peaks signifies that no abrupt environmental or sensor-induced changes occurred.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597" y="4985799"/>
            <a:ext cx="8036003" cy="2299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297" y="1075205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07603" y="1414403"/>
            <a:ext cx="7162467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graph displays humidity data with a 10-minute moving average overlay. The orange line follows the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signal closely, indicating that fluctuations were minimal and consistent over time. Smooth, aligned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confirm that humidity levels did not experience instability.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6"/>
          <p:cNvSpPr txBox="1"/>
          <p:nvPr/>
        </p:nvSpPr>
        <p:spPr>
          <a:xfrm>
            <a:off x="1028701" y="4788809"/>
            <a:ext cx="78105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humidity rate-of-change plot measures second-by-second variation. The values hover around zero,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that changes in air moisture were gradual and uniform. This outcome confirms that the humidity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worked without sudden jumps or random noise.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1" y="1234104"/>
            <a:ext cx="8191499" cy="258644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656" y="4885235"/>
            <a:ext cx="8115965" cy="229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5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69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GB" sz="5400" b="1" dirty="0" smtClean="0"/>
              <a:t>2.2 Anomaly Detection</a:t>
            </a:r>
            <a:endParaRPr lang="en-US" sz="5000" b="1" dirty="0">
              <a:solidFill>
                <a:srgbClr val="2D1103"/>
              </a:solidFill>
              <a:latin typeface="Times New Roman" panose="02020603050405020304" pitchFamily="18" charset="0"/>
              <a:ea typeface="Arimo Bold"/>
              <a:cs typeface="Times New Roman" panose="02020603050405020304" pitchFamily="18" charset="0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554" y="1733274"/>
            <a:ext cx="16086202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400" dirty="0"/>
              <a:t>Computed rolling mean and standard deviation for each </a:t>
            </a:r>
            <a:r>
              <a:rPr lang="en-US" sz="5400" dirty="0" err="1"/>
              <a:t>IoT</a:t>
            </a:r>
            <a:r>
              <a:rPr lang="en-US" sz="5400" dirty="0"/>
              <a:t> sensor.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400" dirty="0"/>
              <a:t>Applied the ± 3 σ (statistical threshold) rule to identify abnormal readings.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400" dirty="0"/>
              <a:t>No significant anomalies were detected across temperature, humidity, or light data.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400" dirty="0"/>
              <a:t>Results confirmed sensor reliability and stable environmental conditions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1579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76348" y="1409723"/>
            <a:ext cx="79629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anomaly chart includes the rolling mean (orange) and the raw temperature (blue). If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anomalies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existed, they would appear as red or highlighted points outside the normal range (±3 ). Here, no such points are seen, confirming steady readings and proper calibration.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53" y="1045259"/>
            <a:ext cx="8019047" cy="2730137"/>
          </a:xfrm>
          <a:prstGeom prst="rect">
            <a:avLst/>
          </a:prstGeom>
        </p:spPr>
      </p:pic>
      <p:sp>
        <p:nvSpPr>
          <p:cNvPr id="15" name="TextBox 6"/>
          <p:cNvSpPr txBox="1"/>
          <p:nvPr/>
        </p:nvSpPr>
        <p:spPr>
          <a:xfrm>
            <a:off x="1210514" y="5422780"/>
            <a:ext cx="79629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plot displays the humidity anomaly detection results. The overlapping blue and orange lines indicate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 readings remained within normal limits. No deviations beyond three standard deviations occurred,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the sensor operated without faults throughout.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228" y="5677445"/>
            <a:ext cx="7884020" cy="2730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64254" y="4575862"/>
            <a:ext cx="13094745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figure, light intensity values are compared against their rolling mean. The cyclic peaks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 to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daytime brightness and troughs to nighttime darkness. Since no anomaly points were detected, it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sensor responded accurately to natural illumination transitions.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6"/>
          <p:cNvSpPr txBox="1"/>
          <p:nvPr/>
        </p:nvSpPr>
        <p:spPr>
          <a:xfrm>
            <a:off x="1210514" y="5422780"/>
            <a:ext cx="79629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06" y="1058821"/>
            <a:ext cx="12977393" cy="27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6769" y="6277761"/>
            <a:ext cx="15622531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shows a portion of the enriched dataset, now containing additional computed columns such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rate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change, moving averages, rolling means, rolling standard deviations, and anomaly flags.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attributes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the foundation for further analysis or predictive modeling, helping detect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subtle performance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future data collection cycles.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6"/>
          <p:cNvSpPr txBox="1"/>
          <p:nvPr/>
        </p:nvSpPr>
        <p:spPr>
          <a:xfrm>
            <a:off x="1210514" y="5422780"/>
            <a:ext cx="79629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196" y="1080662"/>
            <a:ext cx="15498204" cy="51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63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3834" b="1" dirty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Discussion and Interpretation</a:t>
            </a:r>
            <a:endParaRPr lang="en-US" sz="3834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3098" y="1799092"/>
            <a:ext cx="16086202" cy="330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77"/>
              </a:lnSpc>
            </a:pP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The expanded evaluation of all figures and results indicates that the </a:t>
            </a:r>
            <a:r>
              <a:rPr lang="en-US" sz="4000" dirty="0" err="1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IoT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monitoring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system performed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flawlessly. Each visualization demonstrated stable and accurate sensor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behavior over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the seven-day collection period. The moving averages and rate-of-change plots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validated smooth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consistent conditions, while the absence of anomalies confirmed excellent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sensor calibration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and signal reliability.</a:t>
            </a:r>
            <a:endParaRPr lang="en-US" sz="4000" dirty="0">
              <a:solidFill>
                <a:srgbClr val="2D1103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90276"/>
            <a:ext cx="16230600" cy="8268024"/>
            <a:chOff x="0" y="0"/>
            <a:chExt cx="4274726" cy="2177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77586"/>
            </a:xfrm>
            <a:custGeom>
              <a:avLst/>
              <a:gdLst/>
              <a:ahLst/>
              <a:cxnLst/>
              <a:rect l="l" t="t" r="r" b="b"/>
              <a:pathLst>
                <a:path w="4274726" h="2177586">
                  <a:moveTo>
                    <a:pt x="0" y="0"/>
                  </a:moveTo>
                  <a:lnTo>
                    <a:pt x="4274726" y="0"/>
                  </a:lnTo>
                  <a:lnTo>
                    <a:pt x="4274726" y="2177586"/>
                  </a:lnTo>
                  <a:lnTo>
                    <a:pt x="0" y="2177586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1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7931" y="933450"/>
            <a:ext cx="14852139" cy="63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3834" b="1" dirty="0" smtClean="0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  <a:endParaRPr lang="en-US" sz="3834" b="1" dirty="0">
              <a:solidFill>
                <a:srgbClr val="2D110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3098" y="1799092"/>
            <a:ext cx="16086202" cy="38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77"/>
              </a:lnSpc>
            </a:pP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By carefully analyzing and interpreting each visualization, it becomes evident that the </a:t>
            </a:r>
            <a:r>
              <a:rPr lang="en-US" sz="4000" dirty="0" err="1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IoT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sensors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consistently captured high-quality, trustworthy data. The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environmental conditions remained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balanced with no equipment faults detected. This demonstrates that both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 collection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and processing workflows were executed correctly and that the </a:t>
            </a:r>
            <a:r>
              <a:rPr lang="en-US" sz="4000" dirty="0" err="1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IoT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system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can serve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as a reliable foundation for more advanced analysis stages such as predictive </a:t>
            </a:r>
            <a:r>
              <a:rPr lang="en-US" sz="4000" dirty="0" smtClean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analytics and </a:t>
            </a:r>
            <a:r>
              <a:rPr lang="en-US" sz="4000" dirty="0">
                <a:solidFill>
                  <a:srgbClr val="2D1103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real-time feedback control.</a:t>
            </a:r>
            <a:endParaRPr lang="en-US" sz="4000" dirty="0">
              <a:solidFill>
                <a:srgbClr val="2D1103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18198" y="8838554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6195263" y="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985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3023" y="9761198"/>
            <a:ext cx="46130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69541" y="110645"/>
            <a:ext cx="8806737" cy="918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5"/>
              </a:lnSpc>
            </a:pPr>
            <a:r>
              <a:rPr lang="en-US" sz="5154" b="1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REFERENCES</a:t>
            </a:r>
          </a:p>
        </p:txBody>
      </p:sp>
      <p:sp>
        <p:nvSpPr>
          <p:cNvPr id="4" name="Freeform 4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8171158"/>
            <a:ext cx="2346196" cy="2115842"/>
          </a:xfrm>
          <a:custGeom>
            <a:avLst/>
            <a:gdLst/>
            <a:ahLst/>
            <a:cxnLst/>
            <a:rect l="l" t="t" r="r" b="b"/>
            <a:pathLst>
              <a:path w="2346196" h="2115842">
                <a:moveTo>
                  <a:pt x="0" y="0"/>
                </a:moveTo>
                <a:lnTo>
                  <a:pt x="2346196" y="0"/>
                </a:lnTo>
                <a:lnTo>
                  <a:pt x="2346196" y="2115842"/>
                </a:lnTo>
                <a:lnTo>
                  <a:pt x="0" y="211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6675936" y="-359960"/>
            <a:ext cx="2092737" cy="1887268"/>
          </a:xfrm>
          <a:custGeom>
            <a:avLst/>
            <a:gdLst/>
            <a:ahLst/>
            <a:cxnLst/>
            <a:rect l="l" t="t" r="r" b="b"/>
            <a:pathLst>
              <a:path w="2092737" h="1887268">
                <a:moveTo>
                  <a:pt x="2092737" y="1887268"/>
                </a:moveTo>
                <a:lnTo>
                  <a:pt x="0" y="1887268"/>
                </a:lnTo>
                <a:lnTo>
                  <a:pt x="0" y="0"/>
                </a:lnTo>
                <a:lnTo>
                  <a:pt x="2092737" y="0"/>
                </a:lnTo>
                <a:lnTo>
                  <a:pt x="2092737" y="1887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49971" y="158894"/>
            <a:ext cx="2048890" cy="700348"/>
          </a:xfrm>
          <a:custGeom>
            <a:avLst/>
            <a:gdLst/>
            <a:ahLst/>
            <a:cxnLst/>
            <a:rect l="l" t="t" r="r" b="b"/>
            <a:pathLst>
              <a:path w="2048890" h="700348">
                <a:moveTo>
                  <a:pt x="0" y="0"/>
                </a:moveTo>
                <a:lnTo>
                  <a:pt x="2048890" y="0"/>
                </a:lnTo>
                <a:lnTo>
                  <a:pt x="2048890" y="700348"/>
                </a:lnTo>
                <a:lnTo>
                  <a:pt x="0" y="70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01035" y="9353550"/>
            <a:ext cx="2260959" cy="772837"/>
          </a:xfrm>
          <a:custGeom>
            <a:avLst/>
            <a:gdLst/>
            <a:ahLst/>
            <a:cxnLst/>
            <a:rect l="l" t="t" r="r" b="b"/>
            <a:pathLst>
              <a:path w="2260959" h="772837">
                <a:moveTo>
                  <a:pt x="0" y="0"/>
                </a:moveTo>
                <a:lnTo>
                  <a:pt x="2260959" y="0"/>
                </a:lnTo>
                <a:lnTo>
                  <a:pt x="2260959" y="772837"/>
                </a:lnTo>
                <a:lnTo>
                  <a:pt x="0" y="77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1149" y="1077574"/>
            <a:ext cx="17797801" cy="163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4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 </a:t>
            </a:r>
            <a:r>
              <a:rPr lang="en-US" sz="46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Yeboah</a:t>
            </a:r>
            <a:r>
              <a:rPr lang="en-US" sz="4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Y. (2025). </a:t>
            </a:r>
            <a:r>
              <a:rPr lang="en-US" sz="46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IoT</a:t>
            </a:r>
            <a:r>
              <a:rPr lang="en-US" sz="4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Analytics &amp; Big Data / Edge Computing Lecture Notes.</a:t>
            </a:r>
            <a:endParaRPr lang="en-US" sz="46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6125" y="1726210"/>
            <a:ext cx="15215189" cy="7223107"/>
            <a:chOff x="0" y="0"/>
            <a:chExt cx="4007293" cy="19023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7293" cy="1902382"/>
            </a:xfrm>
            <a:custGeom>
              <a:avLst/>
              <a:gdLst/>
              <a:ahLst/>
              <a:cxnLst/>
              <a:rect l="l" t="t" r="r" b="b"/>
              <a:pathLst>
                <a:path w="4007293" h="1902382">
                  <a:moveTo>
                    <a:pt x="0" y="0"/>
                  </a:moveTo>
                  <a:lnTo>
                    <a:pt x="4007293" y="0"/>
                  </a:lnTo>
                  <a:lnTo>
                    <a:pt x="4007293" y="1902382"/>
                  </a:lnTo>
                  <a:lnTo>
                    <a:pt x="0" y="1902382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7293" cy="1940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53279" y="3890675"/>
            <a:ext cx="14981441" cy="215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45"/>
              </a:lnSpc>
            </a:pPr>
            <a:r>
              <a:rPr lang="en-US" sz="12246" b="1">
                <a:solidFill>
                  <a:srgbClr val="2D1103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1722" y="6873288"/>
            <a:ext cx="13163228" cy="8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4"/>
              </a:lnSpc>
            </a:pPr>
            <a:r>
              <a:rPr lang="en-US" sz="4817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Presented By : Oyeleke Abduljabar Gbenga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30157" y="2189822"/>
            <a:ext cx="8807124" cy="73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3"/>
              </a:lnSpc>
            </a:pPr>
            <a:r>
              <a:rPr lang="en-US" sz="4295">
                <a:solidFill>
                  <a:srgbClr val="2D1103"/>
                </a:solidFill>
                <a:latin typeface="DM Sans"/>
                <a:ea typeface="DM Sans"/>
                <a:cs typeface="DM Sans"/>
                <a:sym typeface="DM Sans"/>
              </a:rPr>
              <a:t>Pentecost University | 2025</a:t>
            </a:r>
          </a:p>
        </p:txBody>
      </p:sp>
      <p:sp>
        <p:nvSpPr>
          <p:cNvPr id="8" name="Freeform 8"/>
          <p:cNvSpPr/>
          <p:nvPr/>
        </p:nvSpPr>
        <p:spPr>
          <a:xfrm>
            <a:off x="490199" y="308107"/>
            <a:ext cx="1855997" cy="551135"/>
          </a:xfrm>
          <a:custGeom>
            <a:avLst/>
            <a:gdLst/>
            <a:ahLst/>
            <a:cxnLst/>
            <a:rect l="l" t="t" r="r" b="b"/>
            <a:pathLst>
              <a:path w="1855997" h="551135">
                <a:moveTo>
                  <a:pt x="0" y="0"/>
                </a:moveTo>
                <a:lnTo>
                  <a:pt x="1855997" y="0"/>
                </a:lnTo>
                <a:lnTo>
                  <a:pt x="1855997" y="551135"/>
                </a:lnTo>
                <a:lnTo>
                  <a:pt x="0" y="55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44950" y="9343229"/>
            <a:ext cx="1730863" cy="513977"/>
          </a:xfrm>
          <a:custGeom>
            <a:avLst/>
            <a:gdLst/>
            <a:ahLst/>
            <a:cxnLst/>
            <a:rect l="l" t="t" r="r" b="b"/>
            <a:pathLst>
              <a:path w="1730863" h="513977">
                <a:moveTo>
                  <a:pt x="0" y="0"/>
                </a:moveTo>
                <a:lnTo>
                  <a:pt x="1730862" y="0"/>
                </a:lnTo>
                <a:lnTo>
                  <a:pt x="1730862" y="513976"/>
                </a:lnTo>
                <a:lnTo>
                  <a:pt x="0" y="51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6172200"/>
            <a:ext cx="4562782" cy="4114800"/>
          </a:xfrm>
          <a:custGeom>
            <a:avLst/>
            <a:gdLst/>
            <a:ahLst/>
            <a:cxnLst/>
            <a:rect l="l" t="t" r="r" b="b"/>
            <a:pathLst>
              <a:path w="4562782" h="4114800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3725218" y="0"/>
            <a:ext cx="4562782" cy="4114800"/>
          </a:xfrm>
          <a:custGeom>
            <a:avLst/>
            <a:gdLst/>
            <a:ahLst/>
            <a:cxnLst/>
            <a:rect l="l" t="t" r="r" b="b"/>
            <a:pathLst>
              <a:path w="4562782" h="4114800">
                <a:moveTo>
                  <a:pt x="45627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2782" y="0"/>
                </a:lnTo>
                <a:lnTo>
                  <a:pt x="45627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62782" y="573168"/>
            <a:ext cx="2665345" cy="911063"/>
          </a:xfrm>
          <a:custGeom>
            <a:avLst/>
            <a:gdLst/>
            <a:ahLst/>
            <a:cxnLst/>
            <a:rect l="l" t="t" r="r" b="b"/>
            <a:pathLst>
              <a:path w="2665345" h="911063">
                <a:moveTo>
                  <a:pt x="0" y="0"/>
                </a:moveTo>
                <a:lnTo>
                  <a:pt x="2665345" y="0"/>
                </a:lnTo>
                <a:lnTo>
                  <a:pt x="2665345" y="911064"/>
                </a:lnTo>
                <a:lnTo>
                  <a:pt x="0" y="911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79617" y="9018666"/>
            <a:ext cx="2665345" cy="911063"/>
          </a:xfrm>
          <a:custGeom>
            <a:avLst/>
            <a:gdLst/>
            <a:ahLst/>
            <a:cxnLst/>
            <a:rect l="l" t="t" r="r" b="b"/>
            <a:pathLst>
              <a:path w="2665345" h="911063">
                <a:moveTo>
                  <a:pt x="0" y="0"/>
                </a:moveTo>
                <a:lnTo>
                  <a:pt x="2665345" y="0"/>
                </a:lnTo>
                <a:lnTo>
                  <a:pt x="2665345" y="911063"/>
                </a:lnTo>
                <a:lnTo>
                  <a:pt x="0" y="911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1643</Words>
  <Application>Microsoft Office PowerPoint</Application>
  <PresentationFormat>Custom</PresentationFormat>
  <Paragraphs>135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DM Sans</vt:lpstr>
      <vt:lpstr>Canva Sans</vt:lpstr>
      <vt:lpstr>Times New Roman</vt:lpstr>
      <vt:lpstr>Arial</vt:lpstr>
      <vt:lpstr>Wingdings</vt:lpstr>
      <vt:lpstr>Arimo Bold</vt:lpstr>
      <vt:lpstr>Arimo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White Simple Modern Geometric Thesis Defense Presentation</dc:title>
  <cp:lastModifiedBy>Microsoft account</cp:lastModifiedBy>
  <cp:revision>14</cp:revision>
  <dcterms:created xsi:type="dcterms:W3CDTF">2006-08-16T00:00:00Z</dcterms:created>
  <dcterms:modified xsi:type="dcterms:W3CDTF">2025-10-31T14:43:21Z</dcterms:modified>
  <dc:identifier>DAGhc4DRdJE</dc:identifier>
</cp:coreProperties>
</file>